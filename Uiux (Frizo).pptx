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75786" y="317634"/>
            <a:ext cx="5283514" cy="9651733"/>
            <a:chOff x="0" y="0"/>
            <a:chExt cx="7044686" cy="128689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4711" cy="12868962"/>
            </a:xfrm>
            <a:custGeom>
              <a:avLst/>
              <a:gdLst/>
              <a:ahLst/>
              <a:cxnLst/>
              <a:rect r="r" b="b" t="t" l="l"/>
              <a:pathLst>
                <a:path h="12868962" w="7044711">
                  <a:moveTo>
                    <a:pt x="0" y="0"/>
                  </a:moveTo>
                  <a:lnTo>
                    <a:pt x="7044711" y="0"/>
                  </a:lnTo>
                  <a:lnTo>
                    <a:pt x="7044711" y="12868962"/>
                  </a:lnTo>
                  <a:lnTo>
                    <a:pt x="0" y="12868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11" r="0" b="-201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2996276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Frizo: Reimagining Grocery Delivery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5416409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comprehensive UI/UX redesign proposal for Frizo, addressing critical pain points and positioning the app against Blinkit's current 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009952"/>
            <a:ext cx="9445523" cy="279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4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Pushpendra                         241096</a:t>
            </a:r>
          </a:p>
          <a:p>
            <a:pPr algn="just">
              <a:lnSpc>
                <a:spcPts val="3724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Yuvrajsinh                           241148</a:t>
            </a:r>
          </a:p>
          <a:p>
            <a:pPr algn="just">
              <a:lnSpc>
                <a:spcPts val="3724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Devdeepsinh                       241153</a:t>
            </a:r>
          </a:p>
          <a:p>
            <a:pPr algn="just">
              <a:lnSpc>
                <a:spcPts val="3724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Luckyrajsinh                       241146</a:t>
            </a:r>
          </a:p>
          <a:p>
            <a:pPr algn="just">
              <a:lnSpc>
                <a:spcPts val="3724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Sunil                                    241098</a:t>
            </a:r>
          </a:p>
          <a:p>
            <a:pPr algn="just">
              <a:lnSpc>
                <a:spcPts val="3725"/>
              </a:lnSpc>
            </a:pPr>
            <a:r>
              <a:rPr lang="en-US" sz="22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Namdev                               241109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1172463"/>
            <a:ext cx="9445523" cy="91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6"/>
              </a:lnSpc>
            </a:pPr>
            <a:r>
              <a:rPr lang="en-US" sz="57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UI/UX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73533" y="2261910"/>
            <a:ext cx="4069188" cy="7227086"/>
            <a:chOff x="0" y="0"/>
            <a:chExt cx="5425584" cy="96361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25634" cy="9636165"/>
            </a:xfrm>
            <a:custGeom>
              <a:avLst/>
              <a:gdLst/>
              <a:ahLst/>
              <a:cxnLst/>
              <a:rect r="r" b="b" t="t" l="l"/>
              <a:pathLst>
                <a:path h="9636165" w="5425634">
                  <a:moveTo>
                    <a:pt x="0" y="0"/>
                  </a:moveTo>
                  <a:lnTo>
                    <a:pt x="5425634" y="0"/>
                  </a:lnTo>
                  <a:lnTo>
                    <a:pt x="5425634" y="9636165"/>
                  </a:lnTo>
                  <a:lnTo>
                    <a:pt x="0" y="9636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3" t="0" r="-173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027424" y="2261910"/>
            <a:ext cx="4021341" cy="7262971"/>
            <a:chOff x="0" y="0"/>
            <a:chExt cx="5361788" cy="9683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1838" cy="9684012"/>
            </a:xfrm>
            <a:custGeom>
              <a:avLst/>
              <a:gdLst/>
              <a:ahLst/>
              <a:cxnLst/>
              <a:rect r="r" b="b" t="t" l="l"/>
              <a:pathLst>
                <a:path h="9684012" w="5361838">
                  <a:moveTo>
                    <a:pt x="0" y="0"/>
                  </a:moveTo>
                  <a:lnTo>
                    <a:pt x="5361838" y="0"/>
                  </a:lnTo>
                  <a:lnTo>
                    <a:pt x="5361838" y="9684012"/>
                  </a:lnTo>
                  <a:lnTo>
                    <a:pt x="0" y="9684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7" t="0" r="-457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30326" y="676570"/>
            <a:ext cx="14788906" cy="89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Why Frizo? Startup Selection &amp; Market Context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326" y="3415751"/>
            <a:ext cx="3987108" cy="52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Strategic Positioning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0326" y="4115543"/>
            <a:ext cx="8743207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Frizo operates in the hyperlocal grocery delivery space, directly competing with Blinkit. Unlike Blinkit's 10-minute delivery focus, Frizo can differentiate through superior user experience and thoughtful design.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326" y="6060129"/>
            <a:ext cx="3987108" cy="52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125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Market Opportunity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326" y="6759921"/>
            <a:ext cx="8743207" cy="131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The Indian grocery delivery market is projected to reach $20 billion by 2025. With Blinkit's poor prototype quality and UX limitations, there's significant whitespace for a well-designed alternative.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0395" y="572869"/>
            <a:ext cx="3294298" cy="5833141"/>
            <a:chOff x="0" y="0"/>
            <a:chExt cx="7040956" cy="124672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1007" cy="12467331"/>
            </a:xfrm>
            <a:custGeom>
              <a:avLst/>
              <a:gdLst/>
              <a:ahLst/>
              <a:cxnLst/>
              <a:rect r="r" b="b" t="t" l="l"/>
              <a:pathLst>
                <a:path h="12467331" w="7041007">
                  <a:moveTo>
                    <a:pt x="0" y="0"/>
                  </a:moveTo>
                  <a:lnTo>
                    <a:pt x="7041007" y="0"/>
                  </a:lnTo>
                  <a:lnTo>
                    <a:pt x="7041007" y="12467331"/>
                  </a:lnTo>
                  <a:lnTo>
                    <a:pt x="0" y="12467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30" r="0" b="-483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4455" y="2742162"/>
            <a:ext cx="4708922" cy="3663848"/>
            <a:chOff x="0" y="0"/>
            <a:chExt cx="6278562" cy="48851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265926" cy="4872355"/>
            </a:xfrm>
            <a:custGeom>
              <a:avLst/>
              <a:gdLst/>
              <a:ahLst/>
              <a:cxnLst/>
              <a:rect r="r" b="b" t="t" l="l"/>
              <a:pathLst>
                <a:path h="4872355" w="6265926">
                  <a:moveTo>
                    <a:pt x="0" y="513842"/>
                  </a:moveTo>
                  <a:cubicBezTo>
                    <a:pt x="0" y="230124"/>
                    <a:pt x="230251" y="0"/>
                    <a:pt x="514223" y="0"/>
                  </a:cubicBezTo>
                  <a:lnTo>
                    <a:pt x="5751703" y="0"/>
                  </a:lnTo>
                  <a:cubicBezTo>
                    <a:pt x="6035675" y="0"/>
                    <a:pt x="6265926" y="230124"/>
                    <a:pt x="6265926" y="513842"/>
                  </a:cubicBezTo>
                  <a:lnTo>
                    <a:pt x="6265926" y="4358513"/>
                  </a:lnTo>
                  <a:cubicBezTo>
                    <a:pt x="6265926" y="4642358"/>
                    <a:pt x="6035675" y="4872355"/>
                    <a:pt x="5751703" y="4872355"/>
                  </a:cubicBezTo>
                  <a:lnTo>
                    <a:pt x="514223" y="4872355"/>
                  </a:lnTo>
                  <a:cubicBezTo>
                    <a:pt x="230251" y="4872482"/>
                    <a:pt x="0" y="4642358"/>
                    <a:pt x="0" y="4358513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78626" cy="4885055"/>
            </a:xfrm>
            <a:custGeom>
              <a:avLst/>
              <a:gdLst/>
              <a:ahLst/>
              <a:cxnLst/>
              <a:rect r="r" b="b" t="t" l="l"/>
              <a:pathLst>
                <a:path h="4885055" w="6278626">
                  <a:moveTo>
                    <a:pt x="0" y="520192"/>
                  </a:moveTo>
                  <a:cubicBezTo>
                    <a:pt x="0" y="232918"/>
                    <a:pt x="233045" y="0"/>
                    <a:pt x="520573" y="0"/>
                  </a:cubicBezTo>
                  <a:lnTo>
                    <a:pt x="5758053" y="0"/>
                  </a:lnTo>
                  <a:lnTo>
                    <a:pt x="5758053" y="6350"/>
                  </a:lnTo>
                  <a:lnTo>
                    <a:pt x="5758053" y="0"/>
                  </a:lnTo>
                  <a:cubicBezTo>
                    <a:pt x="6045581" y="0"/>
                    <a:pt x="6278626" y="232918"/>
                    <a:pt x="6278626" y="520192"/>
                  </a:cubicBezTo>
                  <a:lnTo>
                    <a:pt x="6272276" y="520192"/>
                  </a:lnTo>
                  <a:lnTo>
                    <a:pt x="6278626" y="520192"/>
                  </a:lnTo>
                  <a:lnTo>
                    <a:pt x="6278626" y="4364863"/>
                  </a:lnTo>
                  <a:lnTo>
                    <a:pt x="6272276" y="4364863"/>
                  </a:lnTo>
                  <a:lnTo>
                    <a:pt x="6278626" y="4364863"/>
                  </a:lnTo>
                  <a:cubicBezTo>
                    <a:pt x="6278626" y="4652137"/>
                    <a:pt x="6045581" y="4885055"/>
                    <a:pt x="5758053" y="4885055"/>
                  </a:cubicBezTo>
                  <a:lnTo>
                    <a:pt x="5758053" y="4878705"/>
                  </a:lnTo>
                  <a:lnTo>
                    <a:pt x="5758053" y="4885055"/>
                  </a:lnTo>
                  <a:lnTo>
                    <a:pt x="520573" y="4885055"/>
                  </a:lnTo>
                  <a:lnTo>
                    <a:pt x="520573" y="4878705"/>
                  </a:lnTo>
                  <a:lnTo>
                    <a:pt x="520573" y="4885055"/>
                  </a:lnTo>
                  <a:cubicBezTo>
                    <a:pt x="233045" y="4885182"/>
                    <a:pt x="0" y="4652264"/>
                    <a:pt x="0" y="4364863"/>
                  </a:cubicBezTo>
                  <a:lnTo>
                    <a:pt x="0" y="520192"/>
                  </a:lnTo>
                  <a:lnTo>
                    <a:pt x="6350" y="520192"/>
                  </a:lnTo>
                  <a:lnTo>
                    <a:pt x="0" y="520192"/>
                  </a:lnTo>
                  <a:moveTo>
                    <a:pt x="12700" y="520192"/>
                  </a:moveTo>
                  <a:lnTo>
                    <a:pt x="12700" y="4364863"/>
                  </a:lnTo>
                  <a:lnTo>
                    <a:pt x="6350" y="4364863"/>
                  </a:lnTo>
                  <a:lnTo>
                    <a:pt x="12700" y="4364863"/>
                  </a:lnTo>
                  <a:cubicBezTo>
                    <a:pt x="12700" y="4645152"/>
                    <a:pt x="240030" y="4872355"/>
                    <a:pt x="520573" y="4872355"/>
                  </a:cubicBezTo>
                  <a:lnTo>
                    <a:pt x="5758053" y="4872355"/>
                  </a:lnTo>
                  <a:cubicBezTo>
                    <a:pt x="6038469" y="4872355"/>
                    <a:pt x="6265926" y="4645152"/>
                    <a:pt x="6265926" y="4364863"/>
                  </a:cubicBezTo>
                  <a:lnTo>
                    <a:pt x="6265926" y="520192"/>
                  </a:lnTo>
                  <a:cubicBezTo>
                    <a:pt x="6265926" y="239903"/>
                    <a:pt x="6038469" y="12700"/>
                    <a:pt x="5758053" y="12700"/>
                  </a:cubicBezTo>
                  <a:lnTo>
                    <a:pt x="520573" y="12700"/>
                  </a:lnTo>
                  <a:lnTo>
                    <a:pt x="520573" y="6350"/>
                  </a:lnTo>
                  <a:lnTo>
                    <a:pt x="520573" y="12700"/>
                  </a:lnTo>
                  <a:cubicBezTo>
                    <a:pt x="240030" y="12700"/>
                    <a:pt x="12700" y="239903"/>
                    <a:pt x="12700" y="520192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622" y="3013319"/>
            <a:ext cx="770782" cy="770782"/>
            <a:chOff x="0" y="0"/>
            <a:chExt cx="1027709" cy="10277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377553" y="3225251"/>
            <a:ext cx="346767" cy="346767"/>
          </a:xfrm>
          <a:custGeom>
            <a:avLst/>
            <a:gdLst/>
            <a:ahLst/>
            <a:cxnLst/>
            <a:rect r="r" b="b" t="t" l="l"/>
            <a:pathLst>
              <a:path h="346767" w="346767">
                <a:moveTo>
                  <a:pt x="0" y="0"/>
                </a:moveTo>
                <a:lnTo>
                  <a:pt x="346767" y="0"/>
                </a:lnTo>
                <a:lnTo>
                  <a:pt x="346767" y="346767"/>
                </a:lnTo>
                <a:lnTo>
                  <a:pt x="0" y="3467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826623" y="2742162"/>
            <a:ext cx="4708922" cy="3663848"/>
            <a:chOff x="0" y="0"/>
            <a:chExt cx="6278562" cy="48851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6265926" cy="4872355"/>
            </a:xfrm>
            <a:custGeom>
              <a:avLst/>
              <a:gdLst/>
              <a:ahLst/>
              <a:cxnLst/>
              <a:rect r="r" b="b" t="t" l="l"/>
              <a:pathLst>
                <a:path h="4872355" w="6265926">
                  <a:moveTo>
                    <a:pt x="0" y="513842"/>
                  </a:moveTo>
                  <a:cubicBezTo>
                    <a:pt x="0" y="230124"/>
                    <a:pt x="230251" y="0"/>
                    <a:pt x="514223" y="0"/>
                  </a:cubicBezTo>
                  <a:lnTo>
                    <a:pt x="5751703" y="0"/>
                  </a:lnTo>
                  <a:cubicBezTo>
                    <a:pt x="6035675" y="0"/>
                    <a:pt x="6265926" y="230124"/>
                    <a:pt x="6265926" y="513842"/>
                  </a:cubicBezTo>
                  <a:lnTo>
                    <a:pt x="6265926" y="4358513"/>
                  </a:lnTo>
                  <a:cubicBezTo>
                    <a:pt x="6265926" y="4642358"/>
                    <a:pt x="6035675" y="4872355"/>
                    <a:pt x="5751703" y="4872355"/>
                  </a:cubicBezTo>
                  <a:lnTo>
                    <a:pt x="514223" y="4872355"/>
                  </a:lnTo>
                  <a:cubicBezTo>
                    <a:pt x="230251" y="4872482"/>
                    <a:pt x="0" y="4642358"/>
                    <a:pt x="0" y="4358513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8626" cy="4885055"/>
            </a:xfrm>
            <a:custGeom>
              <a:avLst/>
              <a:gdLst/>
              <a:ahLst/>
              <a:cxnLst/>
              <a:rect r="r" b="b" t="t" l="l"/>
              <a:pathLst>
                <a:path h="4885055" w="6278626">
                  <a:moveTo>
                    <a:pt x="0" y="520192"/>
                  </a:moveTo>
                  <a:cubicBezTo>
                    <a:pt x="0" y="232918"/>
                    <a:pt x="233045" y="0"/>
                    <a:pt x="520573" y="0"/>
                  </a:cubicBezTo>
                  <a:lnTo>
                    <a:pt x="5758053" y="0"/>
                  </a:lnTo>
                  <a:lnTo>
                    <a:pt x="5758053" y="6350"/>
                  </a:lnTo>
                  <a:lnTo>
                    <a:pt x="5758053" y="0"/>
                  </a:lnTo>
                  <a:cubicBezTo>
                    <a:pt x="6045581" y="0"/>
                    <a:pt x="6278626" y="232918"/>
                    <a:pt x="6278626" y="520192"/>
                  </a:cubicBezTo>
                  <a:lnTo>
                    <a:pt x="6272276" y="520192"/>
                  </a:lnTo>
                  <a:lnTo>
                    <a:pt x="6278626" y="520192"/>
                  </a:lnTo>
                  <a:lnTo>
                    <a:pt x="6278626" y="4364863"/>
                  </a:lnTo>
                  <a:lnTo>
                    <a:pt x="6272276" y="4364863"/>
                  </a:lnTo>
                  <a:lnTo>
                    <a:pt x="6278626" y="4364863"/>
                  </a:lnTo>
                  <a:cubicBezTo>
                    <a:pt x="6278626" y="4652137"/>
                    <a:pt x="6045581" y="4885055"/>
                    <a:pt x="5758053" y="4885055"/>
                  </a:cubicBezTo>
                  <a:lnTo>
                    <a:pt x="5758053" y="4878705"/>
                  </a:lnTo>
                  <a:lnTo>
                    <a:pt x="5758053" y="4885055"/>
                  </a:lnTo>
                  <a:lnTo>
                    <a:pt x="520573" y="4885055"/>
                  </a:lnTo>
                  <a:lnTo>
                    <a:pt x="520573" y="4878705"/>
                  </a:lnTo>
                  <a:lnTo>
                    <a:pt x="520573" y="4885055"/>
                  </a:lnTo>
                  <a:cubicBezTo>
                    <a:pt x="233045" y="4885182"/>
                    <a:pt x="0" y="4652264"/>
                    <a:pt x="0" y="4364863"/>
                  </a:cubicBezTo>
                  <a:lnTo>
                    <a:pt x="0" y="520192"/>
                  </a:lnTo>
                  <a:lnTo>
                    <a:pt x="6350" y="520192"/>
                  </a:lnTo>
                  <a:lnTo>
                    <a:pt x="0" y="520192"/>
                  </a:lnTo>
                  <a:moveTo>
                    <a:pt x="12700" y="520192"/>
                  </a:moveTo>
                  <a:lnTo>
                    <a:pt x="12700" y="4364863"/>
                  </a:lnTo>
                  <a:lnTo>
                    <a:pt x="6350" y="4364863"/>
                  </a:lnTo>
                  <a:lnTo>
                    <a:pt x="12700" y="4364863"/>
                  </a:lnTo>
                  <a:cubicBezTo>
                    <a:pt x="12700" y="4645152"/>
                    <a:pt x="240030" y="4872355"/>
                    <a:pt x="520573" y="4872355"/>
                  </a:cubicBezTo>
                  <a:lnTo>
                    <a:pt x="5758053" y="4872355"/>
                  </a:lnTo>
                  <a:cubicBezTo>
                    <a:pt x="6038469" y="4872355"/>
                    <a:pt x="6265926" y="4645152"/>
                    <a:pt x="6265926" y="4364863"/>
                  </a:cubicBezTo>
                  <a:lnTo>
                    <a:pt x="6265926" y="520192"/>
                  </a:lnTo>
                  <a:cubicBezTo>
                    <a:pt x="6265926" y="239903"/>
                    <a:pt x="6038469" y="12700"/>
                    <a:pt x="5758053" y="12700"/>
                  </a:cubicBezTo>
                  <a:lnTo>
                    <a:pt x="520573" y="12700"/>
                  </a:lnTo>
                  <a:lnTo>
                    <a:pt x="520573" y="6350"/>
                  </a:lnTo>
                  <a:lnTo>
                    <a:pt x="520573" y="12700"/>
                  </a:lnTo>
                  <a:cubicBezTo>
                    <a:pt x="240030" y="12700"/>
                    <a:pt x="12700" y="239903"/>
                    <a:pt x="12700" y="520192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097791" y="3013319"/>
            <a:ext cx="770782" cy="770782"/>
            <a:chOff x="0" y="0"/>
            <a:chExt cx="1027709" cy="10277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6309722" y="3225251"/>
            <a:ext cx="346767" cy="346767"/>
          </a:xfrm>
          <a:custGeom>
            <a:avLst/>
            <a:gdLst/>
            <a:ahLst/>
            <a:cxnLst/>
            <a:rect r="r" b="b" t="t" l="l"/>
            <a:pathLst>
              <a:path h="346767" w="346767">
                <a:moveTo>
                  <a:pt x="0" y="0"/>
                </a:moveTo>
                <a:lnTo>
                  <a:pt x="346767" y="0"/>
                </a:lnTo>
                <a:lnTo>
                  <a:pt x="346767" y="346767"/>
                </a:lnTo>
                <a:lnTo>
                  <a:pt x="0" y="3467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94455" y="6629248"/>
            <a:ext cx="9641091" cy="2870597"/>
            <a:chOff x="0" y="0"/>
            <a:chExt cx="12854788" cy="38274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2842113" cy="3814826"/>
            </a:xfrm>
            <a:custGeom>
              <a:avLst/>
              <a:gdLst/>
              <a:ahLst/>
              <a:cxnLst/>
              <a:rect r="r" b="b" t="t" l="l"/>
              <a:pathLst>
                <a:path h="3814826" w="12842113">
                  <a:moveTo>
                    <a:pt x="0" y="513969"/>
                  </a:moveTo>
                  <a:cubicBezTo>
                    <a:pt x="0" y="230124"/>
                    <a:pt x="230632" y="0"/>
                    <a:pt x="515112" y="0"/>
                  </a:cubicBezTo>
                  <a:lnTo>
                    <a:pt x="12327001" y="0"/>
                  </a:lnTo>
                  <a:cubicBezTo>
                    <a:pt x="12611481" y="0"/>
                    <a:pt x="12842113" y="230124"/>
                    <a:pt x="12842113" y="513969"/>
                  </a:cubicBezTo>
                  <a:lnTo>
                    <a:pt x="12842113" y="3300857"/>
                  </a:lnTo>
                  <a:cubicBezTo>
                    <a:pt x="12842113" y="3584702"/>
                    <a:pt x="12611481" y="3814826"/>
                    <a:pt x="12327001" y="3814826"/>
                  </a:cubicBezTo>
                  <a:lnTo>
                    <a:pt x="515112" y="3814826"/>
                  </a:lnTo>
                  <a:cubicBezTo>
                    <a:pt x="230632" y="3814826"/>
                    <a:pt x="0" y="3584702"/>
                    <a:pt x="0" y="3300857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54813" cy="3827526"/>
            </a:xfrm>
            <a:custGeom>
              <a:avLst/>
              <a:gdLst/>
              <a:ahLst/>
              <a:cxnLst/>
              <a:rect r="r" b="b" t="t" l="l"/>
              <a:pathLst>
                <a:path h="3827526" w="12854813">
                  <a:moveTo>
                    <a:pt x="0" y="520319"/>
                  </a:moveTo>
                  <a:cubicBezTo>
                    <a:pt x="0" y="232918"/>
                    <a:pt x="233426" y="0"/>
                    <a:pt x="521462" y="0"/>
                  </a:cubicBezTo>
                  <a:lnTo>
                    <a:pt x="12333351" y="0"/>
                  </a:lnTo>
                  <a:lnTo>
                    <a:pt x="12333351" y="6350"/>
                  </a:lnTo>
                  <a:lnTo>
                    <a:pt x="12333351" y="0"/>
                  </a:lnTo>
                  <a:cubicBezTo>
                    <a:pt x="12621387" y="0"/>
                    <a:pt x="12854813" y="232918"/>
                    <a:pt x="12854813" y="520319"/>
                  </a:cubicBezTo>
                  <a:lnTo>
                    <a:pt x="12848463" y="520319"/>
                  </a:lnTo>
                  <a:lnTo>
                    <a:pt x="12854813" y="520319"/>
                  </a:lnTo>
                  <a:lnTo>
                    <a:pt x="12854813" y="3307207"/>
                  </a:lnTo>
                  <a:lnTo>
                    <a:pt x="12848463" y="3307207"/>
                  </a:lnTo>
                  <a:lnTo>
                    <a:pt x="12854813" y="3307207"/>
                  </a:lnTo>
                  <a:cubicBezTo>
                    <a:pt x="12854813" y="3594608"/>
                    <a:pt x="12621387" y="3827526"/>
                    <a:pt x="12333351" y="3827526"/>
                  </a:cubicBezTo>
                  <a:lnTo>
                    <a:pt x="12333351" y="3821176"/>
                  </a:lnTo>
                  <a:lnTo>
                    <a:pt x="12333351" y="3827526"/>
                  </a:lnTo>
                  <a:lnTo>
                    <a:pt x="521462" y="3827526"/>
                  </a:lnTo>
                  <a:lnTo>
                    <a:pt x="521462" y="3821176"/>
                  </a:lnTo>
                  <a:lnTo>
                    <a:pt x="521462" y="3827526"/>
                  </a:lnTo>
                  <a:cubicBezTo>
                    <a:pt x="233426" y="3827526"/>
                    <a:pt x="0" y="3594481"/>
                    <a:pt x="0" y="3307207"/>
                  </a:cubicBezTo>
                  <a:lnTo>
                    <a:pt x="0" y="520319"/>
                  </a:lnTo>
                  <a:lnTo>
                    <a:pt x="6350" y="520319"/>
                  </a:lnTo>
                  <a:lnTo>
                    <a:pt x="0" y="520319"/>
                  </a:lnTo>
                  <a:moveTo>
                    <a:pt x="12700" y="520319"/>
                  </a:moveTo>
                  <a:lnTo>
                    <a:pt x="12700" y="3307207"/>
                  </a:lnTo>
                  <a:lnTo>
                    <a:pt x="6350" y="3307207"/>
                  </a:lnTo>
                  <a:lnTo>
                    <a:pt x="12700" y="3307207"/>
                  </a:lnTo>
                  <a:cubicBezTo>
                    <a:pt x="12700" y="3587496"/>
                    <a:pt x="240411" y="3814826"/>
                    <a:pt x="521462" y="3814826"/>
                  </a:cubicBezTo>
                  <a:lnTo>
                    <a:pt x="12333351" y="3814826"/>
                  </a:lnTo>
                  <a:cubicBezTo>
                    <a:pt x="12614402" y="3814826"/>
                    <a:pt x="12842113" y="3587623"/>
                    <a:pt x="12842113" y="3307207"/>
                  </a:cubicBezTo>
                  <a:lnTo>
                    <a:pt x="12842113" y="520319"/>
                  </a:lnTo>
                  <a:cubicBezTo>
                    <a:pt x="12842113" y="239903"/>
                    <a:pt x="12614275" y="12700"/>
                    <a:pt x="12333351" y="12700"/>
                  </a:cubicBezTo>
                  <a:lnTo>
                    <a:pt x="521462" y="12700"/>
                  </a:lnTo>
                  <a:lnTo>
                    <a:pt x="521462" y="6350"/>
                  </a:lnTo>
                  <a:lnTo>
                    <a:pt x="521462" y="12700"/>
                  </a:lnTo>
                  <a:cubicBezTo>
                    <a:pt x="240411" y="12700"/>
                    <a:pt x="12700" y="239903"/>
                    <a:pt x="12700" y="520319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5622" y="6900415"/>
            <a:ext cx="770782" cy="770782"/>
            <a:chOff x="0" y="0"/>
            <a:chExt cx="1027709" cy="10277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7684" cy="1027684"/>
            </a:xfrm>
            <a:custGeom>
              <a:avLst/>
              <a:gdLst/>
              <a:ahLst/>
              <a:cxnLst/>
              <a:rect r="r" b="b" t="t" l="l"/>
              <a:pathLst>
                <a:path h="1027684" w="1027684">
                  <a:moveTo>
                    <a:pt x="0" y="513842"/>
                  </a:moveTo>
                  <a:cubicBezTo>
                    <a:pt x="0" y="229997"/>
                    <a:pt x="229997" y="0"/>
                    <a:pt x="513842" y="0"/>
                  </a:cubicBezTo>
                  <a:cubicBezTo>
                    <a:pt x="797687" y="0"/>
                    <a:pt x="1027684" y="229997"/>
                    <a:pt x="1027684" y="513842"/>
                  </a:cubicBezTo>
                  <a:cubicBezTo>
                    <a:pt x="1027684" y="797687"/>
                    <a:pt x="797687" y="1027684"/>
                    <a:pt x="513842" y="1027684"/>
                  </a:cubicBezTo>
                  <a:cubicBezTo>
                    <a:pt x="229997" y="1027684"/>
                    <a:pt x="0" y="797687"/>
                    <a:pt x="0" y="513842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377553" y="7112346"/>
            <a:ext cx="346767" cy="346767"/>
          </a:xfrm>
          <a:custGeom>
            <a:avLst/>
            <a:gdLst/>
            <a:ahLst/>
            <a:cxnLst/>
            <a:rect r="r" b="b" t="t" l="l"/>
            <a:pathLst>
              <a:path h="346767" w="346767">
                <a:moveTo>
                  <a:pt x="0" y="0"/>
                </a:moveTo>
                <a:lnTo>
                  <a:pt x="346767" y="0"/>
                </a:lnTo>
                <a:lnTo>
                  <a:pt x="346767" y="346767"/>
                </a:lnTo>
                <a:lnTo>
                  <a:pt x="0" y="3467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753768" y="3572018"/>
            <a:ext cx="3294298" cy="6347679"/>
            <a:chOff x="0" y="0"/>
            <a:chExt cx="7040956" cy="13566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41007" cy="13567062"/>
            </a:xfrm>
            <a:custGeom>
              <a:avLst/>
              <a:gdLst/>
              <a:ahLst/>
              <a:cxnLst/>
              <a:rect r="r" b="b" t="t" l="l"/>
              <a:pathLst>
                <a:path h="13567062" w="7041007">
                  <a:moveTo>
                    <a:pt x="0" y="0"/>
                  </a:moveTo>
                  <a:lnTo>
                    <a:pt x="7041007" y="0"/>
                  </a:lnTo>
                  <a:lnTo>
                    <a:pt x="7041007" y="13567062"/>
                  </a:lnTo>
                  <a:lnTo>
                    <a:pt x="0" y="13567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86" r="0" b="-386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99217" y="734768"/>
            <a:ext cx="9631566" cy="166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Competitive Analysis: Blinkit's Weaknesses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5622" y="3988298"/>
            <a:ext cx="4166597" cy="8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Poor Information Architecture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5622" y="4892573"/>
            <a:ext cx="4166597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Users struggle to find products due to unclear categorization and navigation hierarchy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97791" y="3988298"/>
            <a:ext cx="3562798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Prototype-Level Quality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097791" y="4491190"/>
            <a:ext cx="4166597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Visual design lacks polish with inconsistent spacing, typography, and component styling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5622" y="7875384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Performance Issues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65622" y="8378276"/>
            <a:ext cx="9098756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Slow load times and unresponsive interactions create frustration during critical shopping moments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44903"/>
            <a:ext cx="1154295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Critical UI/UX Problems Identified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536004"/>
            <a:ext cx="5283546" cy="4667993"/>
            <a:chOff x="0" y="0"/>
            <a:chExt cx="7044728" cy="6223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89" cy="6173216"/>
            </a:xfrm>
            <a:custGeom>
              <a:avLst/>
              <a:gdLst/>
              <a:ahLst/>
              <a:cxnLst/>
              <a:rect r="r" b="b" t="t" l="l"/>
              <a:pathLst>
                <a:path h="6173216" w="6993889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749796" y="0"/>
                  </a:lnTo>
                  <a:cubicBezTo>
                    <a:pt x="6884543" y="0"/>
                    <a:pt x="6993889" y="109220"/>
                    <a:pt x="6993889" y="243840"/>
                  </a:cubicBezTo>
                  <a:lnTo>
                    <a:pt x="6993889" y="5929376"/>
                  </a:lnTo>
                  <a:cubicBezTo>
                    <a:pt x="6993889" y="6063996"/>
                    <a:pt x="6884670" y="6173216"/>
                    <a:pt x="6749796" y="6173216"/>
                  </a:cubicBezTo>
                  <a:lnTo>
                    <a:pt x="244094" y="6173216"/>
                  </a:lnTo>
                  <a:cubicBezTo>
                    <a:pt x="109220" y="6173216"/>
                    <a:pt x="0" y="6063996"/>
                    <a:pt x="0" y="5929376"/>
                  </a:cubicBezTo>
                  <a:close/>
                </a:path>
              </a:pathLst>
            </a:custGeom>
            <a:solidFill>
              <a:srgbClr val="F6EB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6224016"/>
            </a:xfrm>
            <a:custGeom>
              <a:avLst/>
              <a:gdLst/>
              <a:ahLst/>
              <a:cxnLst/>
              <a:rect r="r" b="b" t="t" l="l"/>
              <a:pathLst>
                <a:path h="6224016" w="7044690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954776"/>
                  </a:lnTo>
                  <a:lnTo>
                    <a:pt x="7019290" y="5954776"/>
                  </a:lnTo>
                  <a:lnTo>
                    <a:pt x="7044690" y="5954776"/>
                  </a:lnTo>
                  <a:cubicBezTo>
                    <a:pt x="7044690" y="6103493"/>
                    <a:pt x="6924040" y="6224016"/>
                    <a:pt x="6775197" y="6224016"/>
                  </a:cubicBezTo>
                  <a:lnTo>
                    <a:pt x="6775197" y="6198616"/>
                  </a:lnTo>
                  <a:lnTo>
                    <a:pt x="6775197" y="6224016"/>
                  </a:lnTo>
                  <a:lnTo>
                    <a:pt x="269494" y="6224016"/>
                  </a:lnTo>
                  <a:lnTo>
                    <a:pt x="269494" y="6198616"/>
                  </a:lnTo>
                  <a:lnTo>
                    <a:pt x="269494" y="6224016"/>
                  </a:lnTo>
                  <a:cubicBezTo>
                    <a:pt x="120650" y="6224016"/>
                    <a:pt x="0" y="6103493"/>
                    <a:pt x="0" y="59547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954776"/>
                  </a:lnTo>
                  <a:lnTo>
                    <a:pt x="25400" y="5954776"/>
                  </a:lnTo>
                  <a:lnTo>
                    <a:pt x="50800" y="5954776"/>
                  </a:lnTo>
                  <a:cubicBezTo>
                    <a:pt x="50800" y="6075426"/>
                    <a:pt x="148717" y="6173216"/>
                    <a:pt x="269494" y="6173216"/>
                  </a:cubicBezTo>
                  <a:lnTo>
                    <a:pt x="6775196" y="6173216"/>
                  </a:lnTo>
                  <a:cubicBezTo>
                    <a:pt x="6895973" y="6173216"/>
                    <a:pt x="6993889" y="6075426"/>
                    <a:pt x="6993889" y="5954776"/>
                  </a:cubicBezTo>
                  <a:lnTo>
                    <a:pt x="6993889" y="269240"/>
                  </a:lnTo>
                  <a:cubicBezTo>
                    <a:pt x="6993890" y="148590"/>
                    <a:pt x="6896100" y="50800"/>
                    <a:pt x="6775196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555054"/>
            <a:ext cx="152400" cy="4629893"/>
            <a:chOff x="0" y="0"/>
            <a:chExt cx="203200" cy="61731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6173216"/>
            </a:xfrm>
            <a:custGeom>
              <a:avLst/>
              <a:gdLst/>
              <a:ahLst/>
              <a:cxnLst/>
              <a:rect r="r" b="b" t="t" l="l"/>
              <a:pathLst>
                <a:path h="6173216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6071616"/>
                  </a:lnTo>
                  <a:cubicBezTo>
                    <a:pt x="203200" y="6127750"/>
                    <a:pt x="157734" y="6173216"/>
                    <a:pt x="101600" y="6173216"/>
                  </a:cubicBezTo>
                  <a:cubicBezTo>
                    <a:pt x="45466" y="6173216"/>
                    <a:pt x="0" y="6127750"/>
                    <a:pt x="0" y="6071616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3838575"/>
            <a:ext cx="361622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Navigation Confusion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384919"/>
            <a:ext cx="4487913" cy="347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Hidden menu structures increase cognitive load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No clear visual hierarchy between primary and secondary actions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Users frequently miss key features and promotions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3536004"/>
            <a:ext cx="5283546" cy="4667993"/>
            <a:chOff x="0" y="0"/>
            <a:chExt cx="7044728" cy="6223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3889" cy="6173216"/>
            </a:xfrm>
            <a:custGeom>
              <a:avLst/>
              <a:gdLst/>
              <a:ahLst/>
              <a:cxnLst/>
              <a:rect r="r" b="b" t="t" l="l"/>
              <a:pathLst>
                <a:path h="6173216" w="6993889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749796" y="0"/>
                  </a:lnTo>
                  <a:cubicBezTo>
                    <a:pt x="6884543" y="0"/>
                    <a:pt x="6993889" y="109220"/>
                    <a:pt x="6993889" y="243840"/>
                  </a:cubicBezTo>
                  <a:lnTo>
                    <a:pt x="6993889" y="5929376"/>
                  </a:lnTo>
                  <a:cubicBezTo>
                    <a:pt x="6993889" y="6063996"/>
                    <a:pt x="6884670" y="6173216"/>
                    <a:pt x="6749796" y="6173216"/>
                  </a:cubicBezTo>
                  <a:lnTo>
                    <a:pt x="244094" y="6173216"/>
                  </a:lnTo>
                  <a:cubicBezTo>
                    <a:pt x="109220" y="6173216"/>
                    <a:pt x="0" y="6063996"/>
                    <a:pt x="0" y="5929376"/>
                  </a:cubicBezTo>
                  <a:close/>
                </a:path>
              </a:pathLst>
            </a:custGeom>
            <a:solidFill>
              <a:srgbClr val="F6EBD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6224016"/>
            </a:xfrm>
            <a:custGeom>
              <a:avLst/>
              <a:gdLst/>
              <a:ahLst/>
              <a:cxnLst/>
              <a:rect r="r" b="b" t="t" l="l"/>
              <a:pathLst>
                <a:path h="6224016" w="7044690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954776"/>
                  </a:lnTo>
                  <a:lnTo>
                    <a:pt x="7019290" y="5954776"/>
                  </a:lnTo>
                  <a:lnTo>
                    <a:pt x="7044690" y="5954776"/>
                  </a:lnTo>
                  <a:cubicBezTo>
                    <a:pt x="7044690" y="6103493"/>
                    <a:pt x="6924040" y="6224016"/>
                    <a:pt x="6775197" y="6224016"/>
                  </a:cubicBezTo>
                  <a:lnTo>
                    <a:pt x="6775197" y="6198616"/>
                  </a:lnTo>
                  <a:lnTo>
                    <a:pt x="6775197" y="6224016"/>
                  </a:lnTo>
                  <a:lnTo>
                    <a:pt x="269494" y="6224016"/>
                  </a:lnTo>
                  <a:lnTo>
                    <a:pt x="269494" y="6198616"/>
                  </a:lnTo>
                  <a:lnTo>
                    <a:pt x="269494" y="6224016"/>
                  </a:lnTo>
                  <a:cubicBezTo>
                    <a:pt x="120650" y="6224016"/>
                    <a:pt x="0" y="6103493"/>
                    <a:pt x="0" y="59547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954776"/>
                  </a:lnTo>
                  <a:lnTo>
                    <a:pt x="25400" y="5954776"/>
                  </a:lnTo>
                  <a:lnTo>
                    <a:pt x="50800" y="5954776"/>
                  </a:lnTo>
                  <a:cubicBezTo>
                    <a:pt x="50800" y="6075426"/>
                    <a:pt x="148717" y="6173216"/>
                    <a:pt x="269494" y="6173216"/>
                  </a:cubicBezTo>
                  <a:lnTo>
                    <a:pt x="6775196" y="6173216"/>
                  </a:lnTo>
                  <a:cubicBezTo>
                    <a:pt x="6895973" y="6173216"/>
                    <a:pt x="6993889" y="6075426"/>
                    <a:pt x="6993889" y="5954776"/>
                  </a:cubicBezTo>
                  <a:lnTo>
                    <a:pt x="6993889" y="269240"/>
                  </a:lnTo>
                  <a:cubicBezTo>
                    <a:pt x="6993890" y="148590"/>
                    <a:pt x="6896100" y="50800"/>
                    <a:pt x="6775196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3555054"/>
            <a:ext cx="152400" cy="4629893"/>
            <a:chOff x="0" y="0"/>
            <a:chExt cx="203200" cy="61731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6173216"/>
            </a:xfrm>
            <a:custGeom>
              <a:avLst/>
              <a:gdLst/>
              <a:ahLst/>
              <a:cxnLst/>
              <a:rect r="r" b="b" t="t" l="l"/>
              <a:pathLst>
                <a:path h="6173216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6071616"/>
                  </a:lnTo>
                  <a:cubicBezTo>
                    <a:pt x="203200" y="6127750"/>
                    <a:pt x="157734" y="6173216"/>
                    <a:pt x="101600" y="6173216"/>
                  </a:cubicBezTo>
                  <a:cubicBezTo>
                    <a:pt x="45466" y="6173216"/>
                    <a:pt x="0" y="6127750"/>
                    <a:pt x="0" y="6071616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383857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Visual Inconsistency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4384919"/>
            <a:ext cx="4487913" cy="302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Mixed design patterns across different screens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Inconsistent button styles and color usage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Poor spacing and alignment reduce readability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3536004"/>
            <a:ext cx="5283546" cy="4667993"/>
            <a:chOff x="0" y="0"/>
            <a:chExt cx="7044728" cy="6223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89" cy="6173216"/>
            </a:xfrm>
            <a:custGeom>
              <a:avLst/>
              <a:gdLst/>
              <a:ahLst/>
              <a:cxnLst/>
              <a:rect r="r" b="b" t="t" l="l"/>
              <a:pathLst>
                <a:path h="6173216" w="6993889">
                  <a:moveTo>
                    <a:pt x="0" y="243840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6749796" y="0"/>
                  </a:lnTo>
                  <a:cubicBezTo>
                    <a:pt x="6884543" y="0"/>
                    <a:pt x="6993889" y="109220"/>
                    <a:pt x="6993889" y="243840"/>
                  </a:cubicBezTo>
                  <a:lnTo>
                    <a:pt x="6993889" y="5929376"/>
                  </a:lnTo>
                  <a:cubicBezTo>
                    <a:pt x="6993889" y="6063996"/>
                    <a:pt x="6884670" y="6173216"/>
                    <a:pt x="6749796" y="6173216"/>
                  </a:cubicBezTo>
                  <a:lnTo>
                    <a:pt x="244094" y="6173216"/>
                  </a:lnTo>
                  <a:cubicBezTo>
                    <a:pt x="109220" y="6173216"/>
                    <a:pt x="0" y="6063996"/>
                    <a:pt x="0" y="5929376"/>
                  </a:cubicBezTo>
                  <a:close/>
                </a:path>
              </a:pathLst>
            </a:custGeom>
            <a:solidFill>
              <a:srgbClr val="F6EBD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6224016"/>
            </a:xfrm>
            <a:custGeom>
              <a:avLst/>
              <a:gdLst/>
              <a:ahLst/>
              <a:cxnLst/>
              <a:rect r="r" b="b" t="t" l="l"/>
              <a:pathLst>
                <a:path h="6224016" w="7044690">
                  <a:moveTo>
                    <a:pt x="0" y="269240"/>
                  </a:moveTo>
                  <a:cubicBezTo>
                    <a:pt x="0" y="120523"/>
                    <a:pt x="120650" y="0"/>
                    <a:pt x="269494" y="0"/>
                  </a:cubicBezTo>
                  <a:lnTo>
                    <a:pt x="6775196" y="0"/>
                  </a:lnTo>
                  <a:lnTo>
                    <a:pt x="6775196" y="25400"/>
                  </a:lnTo>
                  <a:lnTo>
                    <a:pt x="6775196" y="0"/>
                  </a:lnTo>
                  <a:cubicBezTo>
                    <a:pt x="6924040" y="0"/>
                    <a:pt x="7044690" y="120523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5954776"/>
                  </a:lnTo>
                  <a:lnTo>
                    <a:pt x="7019290" y="5954776"/>
                  </a:lnTo>
                  <a:lnTo>
                    <a:pt x="7044690" y="5954776"/>
                  </a:lnTo>
                  <a:cubicBezTo>
                    <a:pt x="7044690" y="6103493"/>
                    <a:pt x="6924040" y="6224016"/>
                    <a:pt x="6775197" y="6224016"/>
                  </a:cubicBezTo>
                  <a:lnTo>
                    <a:pt x="6775197" y="6198616"/>
                  </a:lnTo>
                  <a:lnTo>
                    <a:pt x="6775197" y="6224016"/>
                  </a:lnTo>
                  <a:lnTo>
                    <a:pt x="269494" y="6224016"/>
                  </a:lnTo>
                  <a:lnTo>
                    <a:pt x="269494" y="6198616"/>
                  </a:lnTo>
                  <a:lnTo>
                    <a:pt x="269494" y="6224016"/>
                  </a:lnTo>
                  <a:cubicBezTo>
                    <a:pt x="120650" y="6224016"/>
                    <a:pt x="0" y="6103493"/>
                    <a:pt x="0" y="595477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954776"/>
                  </a:lnTo>
                  <a:lnTo>
                    <a:pt x="25400" y="5954776"/>
                  </a:lnTo>
                  <a:lnTo>
                    <a:pt x="50800" y="5954776"/>
                  </a:lnTo>
                  <a:cubicBezTo>
                    <a:pt x="50800" y="6075426"/>
                    <a:pt x="148717" y="6173216"/>
                    <a:pt x="269494" y="6173216"/>
                  </a:cubicBezTo>
                  <a:lnTo>
                    <a:pt x="6775196" y="6173216"/>
                  </a:lnTo>
                  <a:cubicBezTo>
                    <a:pt x="6895973" y="6173216"/>
                    <a:pt x="6993889" y="6075426"/>
                    <a:pt x="6993889" y="5954776"/>
                  </a:cubicBezTo>
                  <a:lnTo>
                    <a:pt x="6993889" y="269240"/>
                  </a:lnTo>
                  <a:cubicBezTo>
                    <a:pt x="6993890" y="148590"/>
                    <a:pt x="6896100" y="50800"/>
                    <a:pt x="6775196" y="50800"/>
                  </a:cubicBezTo>
                  <a:lnTo>
                    <a:pt x="269494" y="50800"/>
                  </a:lnTo>
                  <a:lnTo>
                    <a:pt x="269494" y="25400"/>
                  </a:lnTo>
                  <a:lnTo>
                    <a:pt x="269494" y="50800"/>
                  </a:lnTo>
                  <a:cubicBezTo>
                    <a:pt x="148717" y="50800"/>
                    <a:pt x="50800" y="148590"/>
                    <a:pt x="50800" y="269240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3555054"/>
            <a:ext cx="152400" cy="4629893"/>
            <a:chOff x="0" y="0"/>
            <a:chExt cx="203200" cy="61731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6173216"/>
            </a:xfrm>
            <a:custGeom>
              <a:avLst/>
              <a:gdLst/>
              <a:ahLst/>
              <a:cxnLst/>
              <a:rect r="r" b="b" t="t" l="l"/>
              <a:pathLst>
                <a:path h="6173216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6071616"/>
                  </a:lnTo>
                  <a:cubicBezTo>
                    <a:pt x="203200" y="6127750"/>
                    <a:pt x="157734" y="6173216"/>
                    <a:pt x="101600" y="6173216"/>
                  </a:cubicBezTo>
                  <a:cubicBezTo>
                    <a:pt x="45466" y="6173216"/>
                    <a:pt x="0" y="6127750"/>
                    <a:pt x="0" y="6071616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383857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Checkout Friction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4384919"/>
            <a:ext cx="4487913" cy="302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Multi-step process with unclear progress indicators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Address management is cumbersome and error-prone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Payment options lack clear security signals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8726" y="2083599"/>
            <a:ext cx="8475274" cy="7022896"/>
            <a:chOff x="0" y="0"/>
            <a:chExt cx="12099027" cy="10025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8996" cy="10025634"/>
            </a:xfrm>
            <a:custGeom>
              <a:avLst/>
              <a:gdLst/>
              <a:ahLst/>
              <a:cxnLst/>
              <a:rect r="r" b="b" t="t" l="l"/>
              <a:pathLst>
                <a:path h="10025634" w="12098996">
                  <a:moveTo>
                    <a:pt x="0" y="0"/>
                  </a:moveTo>
                  <a:lnTo>
                    <a:pt x="12098996" y="0"/>
                  </a:lnTo>
                  <a:lnTo>
                    <a:pt x="12098996" y="10025634"/>
                  </a:lnTo>
                  <a:lnTo>
                    <a:pt x="0" y="10025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906" t="0" r="-1490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14498" y="6350817"/>
            <a:ext cx="6633754" cy="3422788"/>
            <a:chOff x="0" y="0"/>
            <a:chExt cx="12099027" cy="6242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98996" cy="6242665"/>
            </a:xfrm>
            <a:custGeom>
              <a:avLst/>
              <a:gdLst/>
              <a:ahLst/>
              <a:cxnLst/>
              <a:rect r="r" b="b" t="t" l="l"/>
              <a:pathLst>
                <a:path h="6242665" w="12098996">
                  <a:moveTo>
                    <a:pt x="0" y="0"/>
                  </a:moveTo>
                  <a:lnTo>
                    <a:pt x="12098996" y="0"/>
                  </a:lnTo>
                  <a:lnTo>
                    <a:pt x="12098996" y="6242665"/>
                  </a:lnTo>
                  <a:lnTo>
                    <a:pt x="0" y="6242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563" r="0" b="-1456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8978" y="655434"/>
            <a:ext cx="6489649" cy="74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43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Design Revamp Strategy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2247" y="2045499"/>
            <a:ext cx="3666382" cy="4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Three-Phase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9007" y="2978466"/>
            <a:ext cx="7519245" cy="74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49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Phase 1: Foundation</a:t>
            </a:r>
            <a:r>
              <a:rPr lang="en-US" sz="20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- Establish design system, component library, and accessibility standards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9007" y="3963213"/>
            <a:ext cx="7519245" cy="74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49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Phase 2: Core Experience</a:t>
            </a:r>
            <a:r>
              <a:rPr lang="en-US" sz="20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- Redesign search, navigation, and product discovery flows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9007" y="5086350"/>
            <a:ext cx="7519245" cy="74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49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Phase 3: Conversion</a:t>
            </a:r>
            <a:r>
              <a:rPr lang="en-US" sz="2049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- Optimize checkout, cart management, and payment experience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9550" y="422610"/>
            <a:ext cx="3247835" cy="6937986"/>
            <a:chOff x="0" y="0"/>
            <a:chExt cx="5928723" cy="12664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28749" cy="12664851"/>
            </a:xfrm>
            <a:custGeom>
              <a:avLst/>
              <a:gdLst/>
              <a:ahLst/>
              <a:cxnLst/>
              <a:rect r="r" b="b" t="t" l="l"/>
              <a:pathLst>
                <a:path h="12664851" w="5928749">
                  <a:moveTo>
                    <a:pt x="0" y="0"/>
                  </a:moveTo>
                  <a:lnTo>
                    <a:pt x="5928749" y="0"/>
                  </a:lnTo>
                  <a:lnTo>
                    <a:pt x="5928749" y="12664851"/>
                  </a:lnTo>
                  <a:lnTo>
                    <a:pt x="0" y="12664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941" t="0" r="-594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28997" y="2804960"/>
            <a:ext cx="293046" cy="1671485"/>
            <a:chOff x="0" y="0"/>
            <a:chExt cx="390728" cy="2228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378079" cy="2216023"/>
            </a:xfrm>
            <a:custGeom>
              <a:avLst/>
              <a:gdLst/>
              <a:ahLst/>
              <a:cxnLst/>
              <a:rect r="r" b="b" t="t" l="l"/>
              <a:pathLst>
                <a:path h="2216023" w="378079">
                  <a:moveTo>
                    <a:pt x="0" y="194310"/>
                  </a:moveTo>
                  <a:cubicBezTo>
                    <a:pt x="0" y="86995"/>
                    <a:pt x="84582" y="0"/>
                    <a:pt x="188976" y="0"/>
                  </a:cubicBezTo>
                  <a:cubicBezTo>
                    <a:pt x="293370" y="0"/>
                    <a:pt x="378079" y="86995"/>
                    <a:pt x="378079" y="194310"/>
                  </a:cubicBezTo>
                  <a:lnTo>
                    <a:pt x="378079" y="2021713"/>
                  </a:lnTo>
                  <a:cubicBezTo>
                    <a:pt x="378079" y="2129028"/>
                    <a:pt x="293497" y="2216023"/>
                    <a:pt x="189103" y="2216023"/>
                  </a:cubicBezTo>
                  <a:cubicBezTo>
                    <a:pt x="84709" y="2216023"/>
                    <a:pt x="0" y="2129028"/>
                    <a:pt x="0" y="2021713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0652" cy="2228723"/>
            </a:xfrm>
            <a:custGeom>
              <a:avLst/>
              <a:gdLst/>
              <a:ahLst/>
              <a:cxnLst/>
              <a:rect r="r" b="b" t="t" l="l"/>
              <a:pathLst>
                <a:path h="2228723" w="390652">
                  <a:moveTo>
                    <a:pt x="0" y="200660"/>
                  </a:moveTo>
                  <a:cubicBezTo>
                    <a:pt x="0" y="89916"/>
                    <a:pt x="87249" y="0"/>
                    <a:pt x="195326" y="0"/>
                  </a:cubicBezTo>
                  <a:cubicBezTo>
                    <a:pt x="197231" y="0"/>
                    <a:pt x="199136" y="889"/>
                    <a:pt x="200279" y="2413"/>
                  </a:cubicBezTo>
                  <a:lnTo>
                    <a:pt x="195326" y="6350"/>
                  </a:lnTo>
                  <a:lnTo>
                    <a:pt x="195326" y="0"/>
                  </a:lnTo>
                  <a:lnTo>
                    <a:pt x="195326" y="6350"/>
                  </a:lnTo>
                  <a:lnTo>
                    <a:pt x="195326" y="0"/>
                  </a:lnTo>
                  <a:cubicBezTo>
                    <a:pt x="303403" y="0"/>
                    <a:pt x="390652" y="89916"/>
                    <a:pt x="390652" y="200660"/>
                  </a:cubicBezTo>
                  <a:lnTo>
                    <a:pt x="390652" y="2028063"/>
                  </a:lnTo>
                  <a:lnTo>
                    <a:pt x="384302" y="2028063"/>
                  </a:lnTo>
                  <a:lnTo>
                    <a:pt x="390652" y="2028063"/>
                  </a:lnTo>
                  <a:cubicBezTo>
                    <a:pt x="390652" y="2138680"/>
                    <a:pt x="303403" y="2228723"/>
                    <a:pt x="195326" y="2228723"/>
                  </a:cubicBezTo>
                  <a:lnTo>
                    <a:pt x="195326" y="2222373"/>
                  </a:lnTo>
                  <a:lnTo>
                    <a:pt x="195326" y="2228723"/>
                  </a:lnTo>
                  <a:cubicBezTo>
                    <a:pt x="87249" y="2228596"/>
                    <a:pt x="0" y="2138680"/>
                    <a:pt x="0" y="2028063"/>
                  </a:cubicBezTo>
                  <a:lnTo>
                    <a:pt x="0" y="200660"/>
                  </a:lnTo>
                  <a:lnTo>
                    <a:pt x="6350" y="200660"/>
                  </a:lnTo>
                  <a:lnTo>
                    <a:pt x="0" y="200660"/>
                  </a:lnTo>
                  <a:moveTo>
                    <a:pt x="12700" y="200660"/>
                  </a:moveTo>
                  <a:lnTo>
                    <a:pt x="12700" y="2028063"/>
                  </a:lnTo>
                  <a:lnTo>
                    <a:pt x="6350" y="2028063"/>
                  </a:lnTo>
                  <a:lnTo>
                    <a:pt x="12700" y="2028063"/>
                  </a:lnTo>
                  <a:cubicBezTo>
                    <a:pt x="12700" y="2131949"/>
                    <a:pt x="94615" y="2216023"/>
                    <a:pt x="195326" y="2216023"/>
                  </a:cubicBezTo>
                  <a:cubicBezTo>
                    <a:pt x="296037" y="2216023"/>
                    <a:pt x="377952" y="2132076"/>
                    <a:pt x="377952" y="2028063"/>
                  </a:cubicBezTo>
                  <a:lnTo>
                    <a:pt x="377952" y="200660"/>
                  </a:lnTo>
                  <a:lnTo>
                    <a:pt x="384302" y="200660"/>
                  </a:lnTo>
                  <a:lnTo>
                    <a:pt x="377952" y="200660"/>
                  </a:lnTo>
                  <a:cubicBezTo>
                    <a:pt x="378079" y="96647"/>
                    <a:pt x="296037" y="12700"/>
                    <a:pt x="195326" y="12700"/>
                  </a:cubicBezTo>
                  <a:cubicBezTo>
                    <a:pt x="193421" y="12700"/>
                    <a:pt x="191516" y="11811"/>
                    <a:pt x="190373" y="10287"/>
                  </a:cubicBezTo>
                  <a:lnTo>
                    <a:pt x="195326" y="6350"/>
                  </a:lnTo>
                  <a:lnTo>
                    <a:pt x="195326" y="12700"/>
                  </a:lnTo>
                  <a:cubicBezTo>
                    <a:pt x="94615" y="12700"/>
                    <a:pt x="12700" y="96647"/>
                    <a:pt x="12700" y="200660"/>
                  </a:cubicBezTo>
                  <a:close/>
                </a:path>
              </a:pathLst>
            </a:custGeom>
            <a:solidFill>
              <a:srgbClr val="7B855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45476" y="2618927"/>
            <a:ext cx="860079" cy="860079"/>
            <a:chOff x="0" y="0"/>
            <a:chExt cx="1146772" cy="11467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6810" cy="1146810"/>
            </a:xfrm>
            <a:custGeom>
              <a:avLst/>
              <a:gdLst/>
              <a:ahLst/>
              <a:cxnLst/>
              <a:rect r="r" b="b" t="t" l="l"/>
              <a:pathLst>
                <a:path h="1146810" w="1146810">
                  <a:moveTo>
                    <a:pt x="0" y="573405"/>
                  </a:moveTo>
                  <a:cubicBezTo>
                    <a:pt x="0" y="256667"/>
                    <a:pt x="256667" y="0"/>
                    <a:pt x="573405" y="0"/>
                  </a:cubicBezTo>
                  <a:cubicBezTo>
                    <a:pt x="574675" y="0"/>
                    <a:pt x="575818" y="381"/>
                    <a:pt x="576834" y="1016"/>
                  </a:cubicBezTo>
                  <a:lnTo>
                    <a:pt x="573405" y="6350"/>
                  </a:lnTo>
                  <a:lnTo>
                    <a:pt x="573405" y="0"/>
                  </a:lnTo>
                  <a:lnTo>
                    <a:pt x="573405" y="6350"/>
                  </a:lnTo>
                  <a:lnTo>
                    <a:pt x="573405" y="0"/>
                  </a:lnTo>
                  <a:cubicBezTo>
                    <a:pt x="890016" y="0"/>
                    <a:pt x="1146810" y="256667"/>
                    <a:pt x="1146810" y="573405"/>
                  </a:cubicBezTo>
                  <a:cubicBezTo>
                    <a:pt x="1146810" y="575056"/>
                    <a:pt x="1146175" y="576707"/>
                    <a:pt x="1144905" y="577850"/>
                  </a:cubicBezTo>
                  <a:lnTo>
                    <a:pt x="1140460" y="573405"/>
                  </a:lnTo>
                  <a:lnTo>
                    <a:pt x="1146810" y="573405"/>
                  </a:lnTo>
                  <a:cubicBezTo>
                    <a:pt x="1146810" y="890016"/>
                    <a:pt x="890143" y="1146810"/>
                    <a:pt x="573405" y="1146810"/>
                  </a:cubicBezTo>
                  <a:lnTo>
                    <a:pt x="573405" y="1140460"/>
                  </a:lnTo>
                  <a:lnTo>
                    <a:pt x="573405" y="1146810"/>
                  </a:lnTo>
                  <a:cubicBezTo>
                    <a:pt x="256667" y="1146810"/>
                    <a:pt x="0" y="890016"/>
                    <a:pt x="0" y="573405"/>
                  </a:cubicBez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6350" y="573405"/>
                  </a:lnTo>
                  <a:lnTo>
                    <a:pt x="12700" y="573405"/>
                  </a:lnTo>
                  <a:cubicBezTo>
                    <a:pt x="12700" y="883031"/>
                    <a:pt x="263779" y="1134110"/>
                    <a:pt x="573405" y="1134110"/>
                  </a:cubicBezTo>
                  <a:cubicBezTo>
                    <a:pt x="883031" y="1134110"/>
                    <a:pt x="1134110" y="883031"/>
                    <a:pt x="1134110" y="573405"/>
                  </a:cubicBezTo>
                  <a:cubicBezTo>
                    <a:pt x="1134110" y="571754"/>
                    <a:pt x="1134745" y="570103"/>
                    <a:pt x="1136015" y="568960"/>
                  </a:cubicBezTo>
                  <a:lnTo>
                    <a:pt x="1140460" y="573405"/>
                  </a:lnTo>
                  <a:lnTo>
                    <a:pt x="1134110" y="573405"/>
                  </a:lnTo>
                  <a:cubicBezTo>
                    <a:pt x="1134110" y="263779"/>
                    <a:pt x="883031" y="12700"/>
                    <a:pt x="573405" y="12700"/>
                  </a:cubicBezTo>
                  <a:cubicBezTo>
                    <a:pt x="572135" y="12700"/>
                    <a:pt x="570992" y="12319"/>
                    <a:pt x="569976" y="11684"/>
                  </a:cubicBezTo>
                  <a:lnTo>
                    <a:pt x="573405" y="6350"/>
                  </a:lnTo>
                  <a:lnTo>
                    <a:pt x="573405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7B8554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8062912" y="2836364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333" t="0" r="-3333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554193" y="5175799"/>
            <a:ext cx="293046" cy="1671485"/>
            <a:chOff x="0" y="0"/>
            <a:chExt cx="390728" cy="22286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378079" cy="2216023"/>
            </a:xfrm>
            <a:custGeom>
              <a:avLst/>
              <a:gdLst/>
              <a:ahLst/>
              <a:cxnLst/>
              <a:rect r="r" b="b" t="t" l="l"/>
              <a:pathLst>
                <a:path h="2216023" w="378079">
                  <a:moveTo>
                    <a:pt x="0" y="194310"/>
                  </a:moveTo>
                  <a:cubicBezTo>
                    <a:pt x="0" y="86995"/>
                    <a:pt x="84582" y="0"/>
                    <a:pt x="188976" y="0"/>
                  </a:cubicBezTo>
                  <a:cubicBezTo>
                    <a:pt x="293370" y="0"/>
                    <a:pt x="378079" y="86995"/>
                    <a:pt x="378079" y="194310"/>
                  </a:cubicBezTo>
                  <a:lnTo>
                    <a:pt x="378079" y="2021713"/>
                  </a:lnTo>
                  <a:cubicBezTo>
                    <a:pt x="378079" y="2129028"/>
                    <a:pt x="293497" y="2216023"/>
                    <a:pt x="189103" y="2216023"/>
                  </a:cubicBezTo>
                  <a:cubicBezTo>
                    <a:pt x="84709" y="2216023"/>
                    <a:pt x="0" y="2129028"/>
                    <a:pt x="0" y="2021713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0652" cy="2228723"/>
            </a:xfrm>
            <a:custGeom>
              <a:avLst/>
              <a:gdLst/>
              <a:ahLst/>
              <a:cxnLst/>
              <a:rect r="r" b="b" t="t" l="l"/>
              <a:pathLst>
                <a:path h="2228723" w="390652">
                  <a:moveTo>
                    <a:pt x="0" y="200660"/>
                  </a:moveTo>
                  <a:cubicBezTo>
                    <a:pt x="0" y="89916"/>
                    <a:pt x="87249" y="0"/>
                    <a:pt x="195326" y="0"/>
                  </a:cubicBezTo>
                  <a:cubicBezTo>
                    <a:pt x="197231" y="0"/>
                    <a:pt x="199136" y="889"/>
                    <a:pt x="200279" y="2413"/>
                  </a:cubicBezTo>
                  <a:lnTo>
                    <a:pt x="195326" y="6350"/>
                  </a:lnTo>
                  <a:lnTo>
                    <a:pt x="195326" y="0"/>
                  </a:lnTo>
                  <a:lnTo>
                    <a:pt x="195326" y="6350"/>
                  </a:lnTo>
                  <a:lnTo>
                    <a:pt x="195326" y="0"/>
                  </a:lnTo>
                  <a:cubicBezTo>
                    <a:pt x="303403" y="0"/>
                    <a:pt x="390652" y="89916"/>
                    <a:pt x="390652" y="200660"/>
                  </a:cubicBezTo>
                  <a:lnTo>
                    <a:pt x="390652" y="2028063"/>
                  </a:lnTo>
                  <a:lnTo>
                    <a:pt x="384302" y="2028063"/>
                  </a:lnTo>
                  <a:lnTo>
                    <a:pt x="390652" y="2028063"/>
                  </a:lnTo>
                  <a:cubicBezTo>
                    <a:pt x="390652" y="2138680"/>
                    <a:pt x="303403" y="2228723"/>
                    <a:pt x="195326" y="2228723"/>
                  </a:cubicBezTo>
                  <a:lnTo>
                    <a:pt x="195326" y="2222373"/>
                  </a:lnTo>
                  <a:lnTo>
                    <a:pt x="195326" y="2228723"/>
                  </a:lnTo>
                  <a:cubicBezTo>
                    <a:pt x="87249" y="2228596"/>
                    <a:pt x="0" y="2138680"/>
                    <a:pt x="0" y="2028063"/>
                  </a:cubicBezTo>
                  <a:lnTo>
                    <a:pt x="0" y="200660"/>
                  </a:lnTo>
                  <a:lnTo>
                    <a:pt x="6350" y="200660"/>
                  </a:lnTo>
                  <a:lnTo>
                    <a:pt x="0" y="200660"/>
                  </a:lnTo>
                  <a:moveTo>
                    <a:pt x="12700" y="200660"/>
                  </a:moveTo>
                  <a:lnTo>
                    <a:pt x="12700" y="2028063"/>
                  </a:lnTo>
                  <a:lnTo>
                    <a:pt x="6350" y="2028063"/>
                  </a:lnTo>
                  <a:lnTo>
                    <a:pt x="12700" y="2028063"/>
                  </a:lnTo>
                  <a:cubicBezTo>
                    <a:pt x="12700" y="2131949"/>
                    <a:pt x="94615" y="2216023"/>
                    <a:pt x="195326" y="2216023"/>
                  </a:cubicBezTo>
                  <a:cubicBezTo>
                    <a:pt x="296037" y="2216023"/>
                    <a:pt x="377952" y="2132076"/>
                    <a:pt x="377952" y="2028063"/>
                  </a:cubicBezTo>
                  <a:lnTo>
                    <a:pt x="377952" y="200660"/>
                  </a:lnTo>
                  <a:lnTo>
                    <a:pt x="384302" y="200660"/>
                  </a:lnTo>
                  <a:lnTo>
                    <a:pt x="377952" y="200660"/>
                  </a:lnTo>
                  <a:cubicBezTo>
                    <a:pt x="378079" y="96647"/>
                    <a:pt x="296037" y="12700"/>
                    <a:pt x="195326" y="12700"/>
                  </a:cubicBezTo>
                  <a:cubicBezTo>
                    <a:pt x="193421" y="12700"/>
                    <a:pt x="191516" y="11811"/>
                    <a:pt x="190373" y="10287"/>
                  </a:cubicBezTo>
                  <a:lnTo>
                    <a:pt x="195326" y="6350"/>
                  </a:lnTo>
                  <a:lnTo>
                    <a:pt x="195326" y="12700"/>
                  </a:lnTo>
                  <a:cubicBezTo>
                    <a:pt x="94615" y="12700"/>
                    <a:pt x="12700" y="96647"/>
                    <a:pt x="12700" y="200660"/>
                  </a:cubicBezTo>
                  <a:close/>
                </a:path>
              </a:pathLst>
            </a:custGeom>
            <a:solidFill>
              <a:srgbClr val="9C924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70672" y="4989757"/>
            <a:ext cx="860079" cy="860079"/>
            <a:chOff x="0" y="0"/>
            <a:chExt cx="1146772" cy="11467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79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6810" cy="1146810"/>
            </a:xfrm>
            <a:custGeom>
              <a:avLst/>
              <a:gdLst/>
              <a:ahLst/>
              <a:cxnLst/>
              <a:rect r="r" b="b" t="t" l="l"/>
              <a:pathLst>
                <a:path h="1146810" w="1146810">
                  <a:moveTo>
                    <a:pt x="0" y="573405"/>
                  </a:moveTo>
                  <a:cubicBezTo>
                    <a:pt x="0" y="256667"/>
                    <a:pt x="256667" y="0"/>
                    <a:pt x="573405" y="0"/>
                  </a:cubicBezTo>
                  <a:cubicBezTo>
                    <a:pt x="574675" y="0"/>
                    <a:pt x="575818" y="381"/>
                    <a:pt x="576834" y="1016"/>
                  </a:cubicBezTo>
                  <a:lnTo>
                    <a:pt x="573405" y="6350"/>
                  </a:lnTo>
                  <a:lnTo>
                    <a:pt x="573405" y="0"/>
                  </a:lnTo>
                  <a:lnTo>
                    <a:pt x="573405" y="6350"/>
                  </a:lnTo>
                  <a:lnTo>
                    <a:pt x="573405" y="0"/>
                  </a:lnTo>
                  <a:cubicBezTo>
                    <a:pt x="890016" y="0"/>
                    <a:pt x="1146810" y="256667"/>
                    <a:pt x="1146810" y="573405"/>
                  </a:cubicBezTo>
                  <a:cubicBezTo>
                    <a:pt x="1146810" y="575056"/>
                    <a:pt x="1146175" y="576707"/>
                    <a:pt x="1144905" y="577850"/>
                  </a:cubicBezTo>
                  <a:lnTo>
                    <a:pt x="1140460" y="573405"/>
                  </a:lnTo>
                  <a:lnTo>
                    <a:pt x="1146810" y="573405"/>
                  </a:lnTo>
                  <a:cubicBezTo>
                    <a:pt x="1146810" y="890016"/>
                    <a:pt x="890143" y="1146810"/>
                    <a:pt x="573405" y="1146810"/>
                  </a:cubicBezTo>
                  <a:lnTo>
                    <a:pt x="573405" y="1140460"/>
                  </a:lnTo>
                  <a:lnTo>
                    <a:pt x="573405" y="1146810"/>
                  </a:lnTo>
                  <a:cubicBezTo>
                    <a:pt x="256667" y="1146810"/>
                    <a:pt x="0" y="890016"/>
                    <a:pt x="0" y="573405"/>
                  </a:cubicBez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6350" y="573405"/>
                  </a:lnTo>
                  <a:lnTo>
                    <a:pt x="12700" y="573405"/>
                  </a:lnTo>
                  <a:cubicBezTo>
                    <a:pt x="12700" y="883031"/>
                    <a:pt x="263779" y="1134110"/>
                    <a:pt x="573405" y="1134110"/>
                  </a:cubicBezTo>
                  <a:cubicBezTo>
                    <a:pt x="883031" y="1134110"/>
                    <a:pt x="1134110" y="883031"/>
                    <a:pt x="1134110" y="573405"/>
                  </a:cubicBezTo>
                  <a:cubicBezTo>
                    <a:pt x="1134110" y="571754"/>
                    <a:pt x="1134745" y="570103"/>
                    <a:pt x="1136015" y="568960"/>
                  </a:cubicBezTo>
                  <a:lnTo>
                    <a:pt x="1140460" y="573405"/>
                  </a:lnTo>
                  <a:lnTo>
                    <a:pt x="1134110" y="573405"/>
                  </a:lnTo>
                  <a:cubicBezTo>
                    <a:pt x="1134110" y="263779"/>
                    <a:pt x="883031" y="12700"/>
                    <a:pt x="573405" y="12700"/>
                  </a:cubicBezTo>
                  <a:cubicBezTo>
                    <a:pt x="572135" y="12700"/>
                    <a:pt x="570992" y="12319"/>
                    <a:pt x="569976" y="11684"/>
                  </a:cubicBezTo>
                  <a:lnTo>
                    <a:pt x="573405" y="6350"/>
                  </a:lnTo>
                  <a:lnTo>
                    <a:pt x="573405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9C9247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8488118" y="5207203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979541" y="7546629"/>
            <a:ext cx="293046" cy="1671485"/>
            <a:chOff x="0" y="0"/>
            <a:chExt cx="390728" cy="22286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378079" cy="2216023"/>
            </a:xfrm>
            <a:custGeom>
              <a:avLst/>
              <a:gdLst/>
              <a:ahLst/>
              <a:cxnLst/>
              <a:rect r="r" b="b" t="t" l="l"/>
              <a:pathLst>
                <a:path h="2216023" w="378079">
                  <a:moveTo>
                    <a:pt x="0" y="194310"/>
                  </a:moveTo>
                  <a:cubicBezTo>
                    <a:pt x="0" y="86995"/>
                    <a:pt x="84582" y="0"/>
                    <a:pt x="188976" y="0"/>
                  </a:cubicBezTo>
                  <a:cubicBezTo>
                    <a:pt x="293370" y="0"/>
                    <a:pt x="378079" y="86995"/>
                    <a:pt x="378079" y="194310"/>
                  </a:cubicBezTo>
                  <a:lnTo>
                    <a:pt x="378079" y="2021713"/>
                  </a:lnTo>
                  <a:cubicBezTo>
                    <a:pt x="378079" y="2129028"/>
                    <a:pt x="293497" y="2216023"/>
                    <a:pt x="189103" y="2216023"/>
                  </a:cubicBezTo>
                  <a:cubicBezTo>
                    <a:pt x="84709" y="2216023"/>
                    <a:pt x="0" y="2129028"/>
                    <a:pt x="0" y="2021713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0652" cy="2228723"/>
            </a:xfrm>
            <a:custGeom>
              <a:avLst/>
              <a:gdLst/>
              <a:ahLst/>
              <a:cxnLst/>
              <a:rect r="r" b="b" t="t" l="l"/>
              <a:pathLst>
                <a:path h="2228723" w="390652">
                  <a:moveTo>
                    <a:pt x="0" y="200660"/>
                  </a:moveTo>
                  <a:cubicBezTo>
                    <a:pt x="0" y="89916"/>
                    <a:pt x="87249" y="0"/>
                    <a:pt x="195326" y="0"/>
                  </a:cubicBezTo>
                  <a:cubicBezTo>
                    <a:pt x="197231" y="0"/>
                    <a:pt x="199136" y="889"/>
                    <a:pt x="200279" y="2413"/>
                  </a:cubicBezTo>
                  <a:lnTo>
                    <a:pt x="195326" y="6350"/>
                  </a:lnTo>
                  <a:lnTo>
                    <a:pt x="195326" y="0"/>
                  </a:lnTo>
                  <a:lnTo>
                    <a:pt x="195326" y="6350"/>
                  </a:lnTo>
                  <a:lnTo>
                    <a:pt x="195326" y="0"/>
                  </a:lnTo>
                  <a:cubicBezTo>
                    <a:pt x="303403" y="0"/>
                    <a:pt x="390652" y="89916"/>
                    <a:pt x="390652" y="200660"/>
                  </a:cubicBezTo>
                  <a:lnTo>
                    <a:pt x="390652" y="2028063"/>
                  </a:lnTo>
                  <a:lnTo>
                    <a:pt x="384302" y="2028063"/>
                  </a:lnTo>
                  <a:lnTo>
                    <a:pt x="390652" y="2028063"/>
                  </a:lnTo>
                  <a:cubicBezTo>
                    <a:pt x="390652" y="2138680"/>
                    <a:pt x="303403" y="2228723"/>
                    <a:pt x="195326" y="2228723"/>
                  </a:cubicBezTo>
                  <a:lnTo>
                    <a:pt x="195326" y="2222373"/>
                  </a:lnTo>
                  <a:lnTo>
                    <a:pt x="195326" y="2228723"/>
                  </a:lnTo>
                  <a:cubicBezTo>
                    <a:pt x="87249" y="2228596"/>
                    <a:pt x="0" y="2138680"/>
                    <a:pt x="0" y="2028063"/>
                  </a:cubicBezTo>
                  <a:lnTo>
                    <a:pt x="0" y="200660"/>
                  </a:lnTo>
                  <a:lnTo>
                    <a:pt x="6350" y="200660"/>
                  </a:lnTo>
                  <a:lnTo>
                    <a:pt x="0" y="200660"/>
                  </a:lnTo>
                  <a:moveTo>
                    <a:pt x="12700" y="200660"/>
                  </a:moveTo>
                  <a:lnTo>
                    <a:pt x="12700" y="2028063"/>
                  </a:lnTo>
                  <a:lnTo>
                    <a:pt x="6350" y="2028063"/>
                  </a:lnTo>
                  <a:lnTo>
                    <a:pt x="12700" y="2028063"/>
                  </a:lnTo>
                  <a:cubicBezTo>
                    <a:pt x="12700" y="2131949"/>
                    <a:pt x="94615" y="2216023"/>
                    <a:pt x="195326" y="2216023"/>
                  </a:cubicBezTo>
                  <a:cubicBezTo>
                    <a:pt x="296037" y="2216023"/>
                    <a:pt x="377952" y="2132076"/>
                    <a:pt x="377952" y="2028063"/>
                  </a:cubicBezTo>
                  <a:lnTo>
                    <a:pt x="377952" y="200660"/>
                  </a:lnTo>
                  <a:lnTo>
                    <a:pt x="384302" y="200660"/>
                  </a:lnTo>
                  <a:lnTo>
                    <a:pt x="377952" y="200660"/>
                  </a:lnTo>
                  <a:cubicBezTo>
                    <a:pt x="378079" y="96647"/>
                    <a:pt x="296037" y="12700"/>
                    <a:pt x="195326" y="12700"/>
                  </a:cubicBezTo>
                  <a:cubicBezTo>
                    <a:pt x="193421" y="12700"/>
                    <a:pt x="191516" y="11811"/>
                    <a:pt x="190373" y="10287"/>
                  </a:cubicBezTo>
                  <a:lnTo>
                    <a:pt x="195326" y="6350"/>
                  </a:lnTo>
                  <a:lnTo>
                    <a:pt x="195326" y="12700"/>
                  </a:lnTo>
                  <a:cubicBezTo>
                    <a:pt x="94615" y="12700"/>
                    <a:pt x="12700" y="96647"/>
                    <a:pt x="12700" y="200660"/>
                  </a:cubicBezTo>
                  <a:close/>
                </a:path>
              </a:pathLst>
            </a:custGeom>
            <a:solidFill>
              <a:srgbClr val="CE952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96030" y="7360596"/>
            <a:ext cx="860079" cy="860079"/>
            <a:chOff x="0" y="0"/>
            <a:chExt cx="1146772" cy="11467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8AF3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6810" cy="1146810"/>
            </a:xfrm>
            <a:custGeom>
              <a:avLst/>
              <a:gdLst/>
              <a:ahLst/>
              <a:cxnLst/>
              <a:rect r="r" b="b" t="t" l="l"/>
              <a:pathLst>
                <a:path h="1146810" w="1146810">
                  <a:moveTo>
                    <a:pt x="0" y="573405"/>
                  </a:moveTo>
                  <a:cubicBezTo>
                    <a:pt x="0" y="256667"/>
                    <a:pt x="256667" y="0"/>
                    <a:pt x="573405" y="0"/>
                  </a:cubicBezTo>
                  <a:cubicBezTo>
                    <a:pt x="574675" y="0"/>
                    <a:pt x="575818" y="381"/>
                    <a:pt x="576834" y="1016"/>
                  </a:cubicBezTo>
                  <a:lnTo>
                    <a:pt x="573405" y="6350"/>
                  </a:lnTo>
                  <a:lnTo>
                    <a:pt x="573405" y="0"/>
                  </a:lnTo>
                  <a:lnTo>
                    <a:pt x="573405" y="6350"/>
                  </a:lnTo>
                  <a:lnTo>
                    <a:pt x="573405" y="0"/>
                  </a:lnTo>
                  <a:cubicBezTo>
                    <a:pt x="890016" y="0"/>
                    <a:pt x="1146810" y="256667"/>
                    <a:pt x="1146810" y="573405"/>
                  </a:cubicBezTo>
                  <a:cubicBezTo>
                    <a:pt x="1146810" y="575056"/>
                    <a:pt x="1146175" y="576707"/>
                    <a:pt x="1144905" y="577850"/>
                  </a:cubicBezTo>
                  <a:lnTo>
                    <a:pt x="1140460" y="573405"/>
                  </a:lnTo>
                  <a:lnTo>
                    <a:pt x="1146810" y="573405"/>
                  </a:lnTo>
                  <a:cubicBezTo>
                    <a:pt x="1146810" y="890016"/>
                    <a:pt x="890143" y="1146810"/>
                    <a:pt x="573405" y="1146810"/>
                  </a:cubicBezTo>
                  <a:lnTo>
                    <a:pt x="573405" y="1140460"/>
                  </a:lnTo>
                  <a:lnTo>
                    <a:pt x="573405" y="1146810"/>
                  </a:lnTo>
                  <a:cubicBezTo>
                    <a:pt x="256667" y="1146810"/>
                    <a:pt x="0" y="890016"/>
                    <a:pt x="0" y="573405"/>
                  </a:cubicBezTo>
                  <a:lnTo>
                    <a:pt x="6350" y="573405"/>
                  </a:lnTo>
                  <a:lnTo>
                    <a:pt x="0" y="573405"/>
                  </a:lnTo>
                  <a:moveTo>
                    <a:pt x="12700" y="573405"/>
                  </a:moveTo>
                  <a:lnTo>
                    <a:pt x="6350" y="573405"/>
                  </a:lnTo>
                  <a:lnTo>
                    <a:pt x="12700" y="573405"/>
                  </a:lnTo>
                  <a:cubicBezTo>
                    <a:pt x="12700" y="883031"/>
                    <a:pt x="263779" y="1134110"/>
                    <a:pt x="573405" y="1134110"/>
                  </a:cubicBezTo>
                  <a:cubicBezTo>
                    <a:pt x="883031" y="1134110"/>
                    <a:pt x="1134110" y="883031"/>
                    <a:pt x="1134110" y="573405"/>
                  </a:cubicBezTo>
                  <a:cubicBezTo>
                    <a:pt x="1134110" y="571754"/>
                    <a:pt x="1134745" y="570103"/>
                    <a:pt x="1136015" y="568960"/>
                  </a:cubicBezTo>
                  <a:lnTo>
                    <a:pt x="1140460" y="573405"/>
                  </a:lnTo>
                  <a:lnTo>
                    <a:pt x="1134110" y="573405"/>
                  </a:lnTo>
                  <a:cubicBezTo>
                    <a:pt x="1134110" y="263779"/>
                    <a:pt x="883031" y="12700"/>
                    <a:pt x="573405" y="12700"/>
                  </a:cubicBezTo>
                  <a:cubicBezTo>
                    <a:pt x="572135" y="12700"/>
                    <a:pt x="570992" y="12319"/>
                    <a:pt x="569976" y="11684"/>
                  </a:cubicBezTo>
                  <a:lnTo>
                    <a:pt x="573405" y="6350"/>
                  </a:lnTo>
                  <a:lnTo>
                    <a:pt x="573405" y="12700"/>
                  </a:lnTo>
                  <a:cubicBezTo>
                    <a:pt x="263779" y="12700"/>
                    <a:pt x="12700" y="263779"/>
                    <a:pt x="12700" y="573405"/>
                  </a:cubicBezTo>
                  <a:close/>
                </a:path>
              </a:pathLst>
            </a:custGeom>
            <a:solidFill>
              <a:srgbClr val="CE9521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8913466" y="7578033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222" r="0" b="-2222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600450" y="3110951"/>
            <a:ext cx="3397490" cy="6811227"/>
            <a:chOff x="0" y="0"/>
            <a:chExt cx="7012788" cy="140591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12813" cy="14059094"/>
            </a:xfrm>
            <a:custGeom>
              <a:avLst/>
              <a:gdLst/>
              <a:ahLst/>
              <a:cxnLst/>
              <a:rect r="r" b="b" t="t" l="l"/>
              <a:pathLst>
                <a:path h="14059094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4059094"/>
                  </a:lnTo>
                  <a:lnTo>
                    <a:pt x="0" y="14059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372" t="0" r="-1372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850238" y="1016203"/>
            <a:ext cx="879812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Wireframe Design Process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84304" y="2629938"/>
            <a:ext cx="365299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Low-Fidelity Sketches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84304" y="3176292"/>
            <a:ext cx="8311458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Quick paper prototypes to validate flow logic and user mental models before investing in digital design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09509" y="5000777"/>
            <a:ext cx="409857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Mid-Fidelity Wireframes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09509" y="5547122"/>
            <a:ext cx="788625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Grayscale screen flows focusing on layout, hierarchy, and interaction patterns without visual distractions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34858" y="7371607"/>
            <a:ext cx="379928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High-Fidelity Mockups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34858" y="7917952"/>
            <a:ext cx="746090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Pixel-perfect designs with full color, typography, and interactive states ready for developer handoff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24541"/>
            <a:ext cx="12814402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Improvements &amp; Expected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81160"/>
            <a:ext cx="7974511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45%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3365" y="4028037"/>
            <a:ext cx="427225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Reduced Navigation 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74381"/>
            <a:ext cx="797451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Users find products faster with improved IA and persistent navigation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21108" y="2881160"/>
            <a:ext cx="797465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30%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22228" y="4028037"/>
            <a:ext cx="437242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Lower Abandonment Rate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1108" y="4574381"/>
            <a:ext cx="797465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Simplified checkout flow reduces cart abandonment at critical steps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399905"/>
            <a:ext cx="7974511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25%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56052" y="7546772"/>
            <a:ext cx="364673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Increased Conversion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093126"/>
            <a:ext cx="797451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Clear CTAs and visual hierarchy drive more completed purchases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21108" y="6399905"/>
            <a:ext cx="7974654" cy="83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4.5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74016" y="7546772"/>
            <a:ext cx="4268686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Higher Satisfaction 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1108" y="8093126"/>
            <a:ext cx="797465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Polished design and smooth interactions boost overall user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0623" y="471436"/>
            <a:ext cx="3169827" cy="5392754"/>
            <a:chOff x="0" y="0"/>
            <a:chExt cx="7012788" cy="119306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2813" cy="11930679"/>
            </a:xfrm>
            <a:custGeom>
              <a:avLst/>
              <a:gdLst/>
              <a:ahLst/>
              <a:cxnLst/>
              <a:rect r="r" b="b" t="t" l="l"/>
              <a:pathLst>
                <a:path h="11930679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1930679"/>
                  </a:lnTo>
                  <a:lnTo>
                    <a:pt x="0" y="1193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10" r="0" b="-701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72426" y="4041230"/>
            <a:ext cx="3188446" cy="5834607"/>
            <a:chOff x="0" y="0"/>
            <a:chExt cx="7012788" cy="128328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2813" cy="12832840"/>
            </a:xfrm>
            <a:custGeom>
              <a:avLst/>
              <a:gdLst/>
              <a:ahLst/>
              <a:cxnLst/>
              <a:rect r="r" b="b" t="t" l="l"/>
              <a:pathLst>
                <a:path h="12832840" w="7012813">
                  <a:moveTo>
                    <a:pt x="0" y="0"/>
                  </a:moveTo>
                  <a:lnTo>
                    <a:pt x="7012813" y="0"/>
                  </a:lnTo>
                  <a:lnTo>
                    <a:pt x="7012813" y="12832840"/>
                  </a:lnTo>
                  <a:lnTo>
                    <a:pt x="0" y="12832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89" r="0" b="-1889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772426" y="2110811"/>
            <a:ext cx="2528822" cy="1463556"/>
          </a:xfrm>
          <a:custGeom>
            <a:avLst/>
            <a:gdLst/>
            <a:ahLst/>
            <a:cxnLst/>
            <a:rect r="r" b="b" t="t" l="l"/>
            <a:pathLst>
              <a:path h="1463556" w="2528822">
                <a:moveTo>
                  <a:pt x="0" y="0"/>
                </a:moveTo>
                <a:lnTo>
                  <a:pt x="2528822" y="0"/>
                </a:lnTo>
                <a:lnTo>
                  <a:pt x="2528822" y="1463555"/>
                </a:lnTo>
                <a:lnTo>
                  <a:pt x="0" y="1463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50238" y="2221116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Mockup Showcase: Before &amp; After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0238" y="4720828"/>
            <a:ext cx="3922957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Home Screen Evolution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0238" y="5380587"/>
            <a:ext cx="4376890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From cluttered promotional banners to clean category grid with personalized recommendations and quick-search bar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8397" y="4720828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Product Discovery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397" y="5380587"/>
            <a:ext cx="4376890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Transformed from text-heavy lists to visual cards with clear pricing, ratings, and add-to-cart actions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125" y="5943356"/>
            <a:ext cx="2528822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Before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02238" y="9837738"/>
            <a:ext cx="2528822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After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06859"/>
            <a:ext cx="1189806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Next Steps: From Design to Delivery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17019"/>
            <a:ext cx="5434460" cy="1134066"/>
            <a:chOff x="0" y="0"/>
            <a:chExt cx="7245947" cy="1512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5" t="0" r="-65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75759" y="419650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User Testing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5759" y="4742859"/>
            <a:ext cx="4867427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Conduct usability tests with 15-20 target users to validate design decisions and identify remaining pain points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26698" y="2817019"/>
            <a:ext cx="5434460" cy="1134066"/>
            <a:chOff x="0" y="0"/>
            <a:chExt cx="7245947" cy="1512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t="0" r="-65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710210" y="4196505"/>
            <a:ext cx="3673231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Development Handoff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0210" y="4742859"/>
            <a:ext cx="4867427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Provide detailed specifications, design assets, and interactive prototypes for engineering implementation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61159" y="2817019"/>
            <a:ext cx="5434460" cy="1134066"/>
            <a:chOff x="0" y="0"/>
            <a:chExt cx="7245947" cy="151208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245985" cy="1512062"/>
            </a:xfrm>
            <a:custGeom>
              <a:avLst/>
              <a:gdLst/>
              <a:ahLst/>
              <a:cxnLst/>
              <a:rect r="r" b="b" t="t" l="l"/>
              <a:pathLst>
                <a:path h="1512062" w="7245985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" t="0" r="-65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44670" y="419650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Phased Launch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670" y="4742859"/>
            <a:ext cx="486742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Roll out redesign in phases, monitoring analytics and user feedback to iterate on the experience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7264603"/>
            <a:ext cx="16303523" cy="1658388"/>
            <a:chOff x="0" y="0"/>
            <a:chExt cx="21738031" cy="2211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8082" cy="2211197"/>
            </a:xfrm>
            <a:custGeom>
              <a:avLst/>
              <a:gdLst/>
              <a:ahLst/>
              <a:cxnLst/>
              <a:rect r="r" b="b" t="t" l="l"/>
              <a:pathLst>
                <a:path h="2211197" w="21738082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lnTo>
                    <a:pt x="21171027" y="0"/>
                  </a:lnTo>
                  <a:cubicBezTo>
                    <a:pt x="21484210" y="0"/>
                    <a:pt x="21738082" y="253873"/>
                    <a:pt x="21738082" y="567055"/>
                  </a:cubicBezTo>
                  <a:lnTo>
                    <a:pt x="21738082" y="1644142"/>
                  </a:lnTo>
                  <a:cubicBezTo>
                    <a:pt x="21738082" y="1957324"/>
                    <a:pt x="21484210" y="2211197"/>
                    <a:pt x="21171027" y="2211197"/>
                  </a:cubicBezTo>
                  <a:lnTo>
                    <a:pt x="567055" y="2211197"/>
                  </a:lnTo>
                  <a:cubicBezTo>
                    <a:pt x="253873" y="2211197"/>
                    <a:pt x="0" y="1957324"/>
                    <a:pt x="0" y="1644142"/>
                  </a:cubicBezTo>
                  <a:close/>
                </a:path>
              </a:pathLst>
            </a:custGeom>
            <a:solidFill>
              <a:srgbClr val="DFE4C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759" y="7685189"/>
            <a:ext cx="354359" cy="283521"/>
            <a:chOff x="0" y="0"/>
            <a:chExt cx="472478" cy="37802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913630" y="7514187"/>
            <a:ext cx="1509861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Budget &amp; Timeline:</a:t>
            </a: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Complete redesign in 8-10 weeks with $15,000-$25,000 investment depending on scope and testing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6176" y="-183139"/>
            <a:ext cx="18980351" cy="11331393"/>
          </a:xfrm>
          <a:custGeom>
            <a:avLst/>
            <a:gdLst/>
            <a:ahLst/>
            <a:cxnLst/>
            <a:rect r="r" b="b" t="t" l="l"/>
            <a:pathLst>
              <a:path h="11331393" w="18980351">
                <a:moveTo>
                  <a:pt x="0" y="0"/>
                </a:moveTo>
                <a:lnTo>
                  <a:pt x="18980352" y="0"/>
                </a:lnTo>
                <a:lnTo>
                  <a:pt x="18980352" y="11331393"/>
                </a:lnTo>
                <a:lnTo>
                  <a:pt x="0" y="11331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60" r="0" b="-837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DAHHab_1hCU</dc:identifier>
  <dcterms:modified xsi:type="dcterms:W3CDTF">2011-08-01T06:04:30Z</dcterms:modified>
  <cp:revision>1</cp:revision>
  <dc:title>Ui/ux (Frizo)</dc:title>
</cp:coreProperties>
</file>